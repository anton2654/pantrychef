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IBM Plex Serif" panose="020B0604020202020204" charset="-52"/>
      <p:regular r:id="rId15"/>
    </p:embeddedFont>
    <p:embeddedFont>
      <p:font typeface="Canva Sans Bold" panose="020B0604020202020204" charset="0"/>
      <p:regular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Canva Sans" panose="020B0604020202020204" charset="0"/>
      <p:regular r:id="rId21"/>
    </p:embeddedFont>
    <p:embeddedFont>
      <p:font typeface="IBM Plex Serif Italics" panose="020B0604020202020204" charset="-52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4" d="100"/>
          <a:sy n="54" d="100"/>
        </p:scale>
        <p:origin x="-706" y="-10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8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94193" y="8857298"/>
            <a:ext cx="2547610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-48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КОМАНДА: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44000" y="8857298"/>
            <a:ext cx="2638864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Боцьків Любомир</a:t>
            </a:r>
          </a:p>
        </p:txBody>
      </p:sp>
      <p:sp>
        <p:nvSpPr>
          <p:cNvPr id="4" name="AutoShape 4"/>
          <p:cNvSpPr/>
          <p:nvPr/>
        </p:nvSpPr>
        <p:spPr>
          <a:xfrm>
            <a:off x="3341803" y="9074467"/>
            <a:ext cx="5802197" cy="0"/>
          </a:xfrm>
          <a:prstGeom prst="line">
            <a:avLst/>
          </a:prstGeom>
          <a:ln w="9525" cap="flat">
            <a:solidFill>
              <a:srgbClr val="36211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3662490" y="2993003"/>
            <a:ext cx="10963021" cy="160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12000" spc="-480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PANTRYCHEF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662490" y="5854278"/>
            <a:ext cx="10963021" cy="1261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Інноваційний підхід до планування вашого раціону: від контролю холодильника до досягнення цілей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308576" y="8862060"/>
            <a:ext cx="1998594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Галух Антон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831045" y="8862060"/>
            <a:ext cx="2428255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Галух Валентин</a:t>
            </a:r>
          </a:p>
        </p:txBody>
      </p:sp>
      <p:sp>
        <p:nvSpPr>
          <p:cNvPr id="9" name="Freeform 9"/>
          <p:cNvSpPr/>
          <p:nvPr/>
        </p:nvSpPr>
        <p:spPr>
          <a:xfrm>
            <a:off x="0" y="9910777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584078"/>
            <a:ext cx="44772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Ідея та ціль продукту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445138"/>
            <a:ext cx="4477275" cy="3887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spc="-44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Проєкт має на меті спростити процес планування харчування, дозволяючи користувачам швидко отримувати збалансоване меню з різноманітними стравами. Додаток генерує рецепти на основі вашої цільової кількості калорій та наявних інгредієнтів.</a:t>
            </a:r>
          </a:p>
          <a:p>
            <a:pPr algn="l">
              <a:lnSpc>
                <a:spcPts val="3080"/>
              </a:lnSpc>
            </a:pPr>
            <a:endParaRPr lang="en-US" sz="2200" spc="-44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755706" y="1584078"/>
            <a:ext cx="44772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Актуальність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905362" y="2445138"/>
            <a:ext cx="4477275" cy="3106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Люди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часто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витрачають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багато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часу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на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планування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своїх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страв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та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пошук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рецептів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.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Наш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додаток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автоматизує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цей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процес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пропонуючи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готові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варіанти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страв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без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необхідності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вибирати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страви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вручну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l">
              <a:lnSpc>
                <a:spcPts val="3080"/>
              </a:lnSpc>
            </a:pPr>
            <a:endParaRPr lang="en-US" sz="2200" spc="-44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2582843" y="1584078"/>
            <a:ext cx="44772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Унікальність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582843" y="2445138"/>
            <a:ext cx="4477275" cy="7792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spc="-44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На відміну від інших сервісів, наш пропонує комплексний підхід до харчування, поєднуючи персоналізацію, зручність та ефективність. Персоналізований підхід – враховує дієтичні потреби, споживання калорій тощо. Гнучке планування харчування – дозволяє користувачам змінювати страви та коригувати меню відповідно до уподобань. Відстеження запасів – унікальна функція, яка допомагає контролювати доступні інгредієнти та уникати непотрібних витрат. Аналіз харчової цінності – автоматично розраховує калорії та поживні речовини для кожного рецепту.</a:t>
            </a:r>
          </a:p>
          <a:p>
            <a:pPr algn="l">
              <a:lnSpc>
                <a:spcPts val="3080"/>
              </a:lnSpc>
            </a:pPr>
            <a:endParaRPr lang="en-US" sz="2200" spc="-44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981075"/>
            <a:ext cx="39836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-96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5362" y="981075"/>
            <a:ext cx="39836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-96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82843" y="981075"/>
            <a:ext cx="39836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-96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38796" y="1231343"/>
            <a:ext cx="4210407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1" spc="-159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Цінність продукту </a:t>
            </a:r>
          </a:p>
        </p:txBody>
      </p:sp>
      <p:sp>
        <p:nvSpPr>
          <p:cNvPr id="4" name="AutoShape 4"/>
          <p:cNvSpPr/>
          <p:nvPr/>
        </p:nvSpPr>
        <p:spPr>
          <a:xfrm>
            <a:off x="1028700" y="3038813"/>
            <a:ext cx="139158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5" name="TextBox 5"/>
          <p:cNvSpPr txBox="1"/>
          <p:nvPr/>
        </p:nvSpPr>
        <p:spPr>
          <a:xfrm>
            <a:off x="2048866" y="2784963"/>
            <a:ext cx="15210434" cy="1526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spc="-11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</a:t>
            </a:r>
            <a:r>
              <a:rPr lang="en-US" sz="2900" b="1" spc="-11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Економія часу: </a:t>
            </a:r>
            <a:r>
              <a:rPr lang="en-US" sz="2900" spc="-11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Автоматизоване планування харчування усуває необхідність вручну підбирати рецепти та складати меню.</a:t>
            </a:r>
          </a:p>
          <a:p>
            <a:pPr algn="ctr">
              <a:lnSpc>
                <a:spcPts val="4060"/>
              </a:lnSpc>
              <a:spcBef>
                <a:spcPct val="0"/>
              </a:spcBef>
            </a:pPr>
            <a:endParaRPr lang="en-US" sz="2900" spc="-116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28700" y="4311503"/>
            <a:ext cx="139158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7" name="TextBox 7"/>
          <p:cNvSpPr txBox="1"/>
          <p:nvPr/>
        </p:nvSpPr>
        <p:spPr>
          <a:xfrm>
            <a:off x="2420280" y="4065059"/>
            <a:ext cx="14587238" cy="1012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b="1" spc="-11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Монетизація:</a:t>
            </a:r>
            <a:r>
              <a:rPr lang="en-US" sz="2900" spc="-11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Можливість впровадження преміум-функцій, підписок або реклами партнерських сервісів (рецепти, кулінарні бренди тощо).</a:t>
            </a:r>
          </a:p>
        </p:txBody>
      </p:sp>
      <p:sp>
        <p:nvSpPr>
          <p:cNvPr id="8" name="AutoShape 8"/>
          <p:cNvSpPr/>
          <p:nvPr/>
        </p:nvSpPr>
        <p:spPr>
          <a:xfrm>
            <a:off x="1028700" y="5720454"/>
            <a:ext cx="139158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9" name="TextBox 9"/>
          <p:cNvSpPr txBox="1"/>
          <p:nvPr/>
        </p:nvSpPr>
        <p:spPr>
          <a:xfrm>
            <a:off x="2420280" y="5429205"/>
            <a:ext cx="14839020" cy="1526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b="1" spc="-11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Партнерські інтеграції:</a:t>
            </a:r>
            <a:r>
              <a:rPr lang="en-US" sz="2900" spc="-11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Співпраця з платформами доставки їжі або продуктів може розширити функціональність та збільшити дохід.</a:t>
            </a:r>
          </a:p>
          <a:p>
            <a:pPr algn="ctr">
              <a:lnSpc>
                <a:spcPts val="4060"/>
              </a:lnSpc>
              <a:spcBef>
                <a:spcPct val="0"/>
              </a:spcBef>
            </a:pPr>
            <a:endParaRPr lang="en-US" sz="2900" spc="-116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1028700" y="7318698"/>
            <a:ext cx="139158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1" name="TextBox 11"/>
          <p:cNvSpPr txBox="1"/>
          <p:nvPr/>
        </p:nvSpPr>
        <p:spPr>
          <a:xfrm>
            <a:off x="2719073" y="7047991"/>
            <a:ext cx="14540227" cy="1526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b="1" spc="-11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Масштабованість: </a:t>
            </a:r>
            <a:r>
              <a:rPr lang="en-US" sz="2900" spc="-11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Проєкт можна адаптувати під різні ринки та потреби користувачів, що забезпечує перспективи розвитку.</a:t>
            </a:r>
          </a:p>
          <a:p>
            <a:pPr algn="ctr">
              <a:lnSpc>
                <a:spcPts val="4060"/>
              </a:lnSpc>
              <a:spcBef>
                <a:spcPct val="0"/>
              </a:spcBef>
            </a:pPr>
            <a:endParaRPr lang="en-US" sz="2900" spc="-116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2726023"/>
            <a:ext cx="16230600" cy="6155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u="sng" spc="-57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Бізнес-цінність:</a:t>
            </a:r>
          </a:p>
          <a:p>
            <a:pPr algn="l">
              <a:lnSpc>
                <a:spcPts val="4059"/>
              </a:lnSpc>
            </a:pPr>
            <a:r>
              <a:rPr lang="en-US" sz="2899" spc="-57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Проект надаватиме користувачам ефективний інструмент для автоматизованого планування харчування, заощаджуючи час і спрощуючи процес вибору страв. Це підвищує залученість користувачів і може монетизуватися через підписки, преміум-функції або інтеграцію з партнерами з рецептами.</a:t>
            </a:r>
          </a:p>
          <a:p>
            <a:pPr algn="l">
              <a:lnSpc>
                <a:spcPts val="4059"/>
              </a:lnSpc>
            </a:pPr>
            <a:endParaRPr lang="en-US" sz="2899" spc="-57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059"/>
              </a:lnSpc>
            </a:pPr>
            <a:endParaRPr lang="en-US" sz="2899" spc="-57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u="sng" spc="-57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Легітимність бізнесу:</a:t>
            </a:r>
          </a:p>
          <a:p>
            <a:pPr algn="l">
              <a:lnSpc>
                <a:spcPts val="4059"/>
              </a:lnSpc>
            </a:pPr>
            <a:r>
              <a:rPr lang="en-US" sz="2899" spc="-57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Проект відповідає вимогам законодавства, оскільки не використовує матеріали, захищені авторським правом, а рецепти можуть базуватися на відкритих даних або партнерських угодах. Конфлікту інтересів немає, а дотримання стандартів безпеки даних користувачів забезпечує легальність сервісу.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160864" y="8862060"/>
            <a:ext cx="2098436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201873"/>
            <a:ext cx="8475243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i="1" spc="-159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Цінність продукту для бізнесу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59027" y="2361744"/>
            <a:ext cx="13969947" cy="6896556"/>
          </a:xfrm>
          <a:custGeom>
            <a:avLst/>
            <a:gdLst/>
            <a:ahLst/>
            <a:cxnLst/>
            <a:rect l="l" t="t" r="r" b="b"/>
            <a:pathLst>
              <a:path w="13969947" h="6896556">
                <a:moveTo>
                  <a:pt x="0" y="0"/>
                </a:moveTo>
                <a:lnTo>
                  <a:pt x="13969946" y="0"/>
                </a:lnTo>
                <a:lnTo>
                  <a:pt x="13969946" y="6896556"/>
                </a:lnTo>
                <a:lnTo>
                  <a:pt x="0" y="68965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952500"/>
            <a:ext cx="18288000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1" spc="-79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Порівняння з конкурентами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4439202"/>
            <a:ext cx="3086100" cy="308610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56604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313264" y="4439202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566046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743232" y="4439202"/>
            <a:ext cx="3086100" cy="308610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566046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172357" y="4439202"/>
            <a:ext cx="3086100" cy="308610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566046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6755368" y="1772246"/>
            <a:ext cx="4777264" cy="679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1" spc="-79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Огляд обсягу проєкту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44777" y="5105400"/>
            <a:ext cx="2853946" cy="1653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Реєстрація користувача та профіль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spc="-48">
              <a:solidFill>
                <a:srgbClr val="E8E6E3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509653" y="5105400"/>
            <a:ext cx="2693322" cy="1234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Різноманітність рецептів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spc="-48">
              <a:solidFill>
                <a:srgbClr val="E8E6E3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0188418" y="4717332"/>
            <a:ext cx="2195729" cy="2491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Автоматичний генератор страв на основі інгредієнтів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spc="-48">
              <a:solidFill>
                <a:srgbClr val="E8E6E3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810532" y="4895850"/>
            <a:ext cx="1918278" cy="2072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Калькулятор калорій та поживних речовин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spc="-48">
              <a:solidFill>
                <a:srgbClr val="E8E6E3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5160864" y="8862060"/>
            <a:ext cx="2098436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330422" y="1921642"/>
            <a:ext cx="9627156" cy="679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Процес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розробки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програмного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забезпечення</a:t>
            </a:r>
            <a:endParaRPr lang="en-US" sz="3999" i="1" spc="-79" dirty="0">
              <a:solidFill>
                <a:srgbClr val="000000"/>
              </a:solidFill>
              <a:latin typeface="IBM Plex Serif Italics"/>
              <a:ea typeface="IBM Plex Serif Italics"/>
              <a:cs typeface="IBM Plex Serif Italics"/>
              <a:sym typeface="IBM Plex Serif Italic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3113908" y="3190253"/>
            <a:ext cx="13782572" cy="2555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У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нашій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команді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використовуватимемо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методологію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Scrum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яка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дозволяє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нам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ефективно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організувати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робочий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процес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швидко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адаптуватися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до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змін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працюватимем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короткими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спринтами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зазвичай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тривалістю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1-2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тижні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з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регулярними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зустрічами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для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обговорення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прогресу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коригування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планів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l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28700" y="3405130"/>
            <a:ext cx="190363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7" name="AutoShape 7"/>
          <p:cNvSpPr/>
          <p:nvPr/>
        </p:nvSpPr>
        <p:spPr>
          <a:xfrm>
            <a:off x="1028700" y="6960903"/>
            <a:ext cx="190363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8" name="TextBox 8"/>
          <p:cNvSpPr txBox="1"/>
          <p:nvPr/>
        </p:nvSpPr>
        <p:spPr>
          <a:xfrm>
            <a:off x="3113908" y="6608034"/>
            <a:ext cx="13539312" cy="1012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9"/>
              </a:lnSpc>
              <a:spcBef>
                <a:spcPct val="0"/>
              </a:spcBef>
            </a:pP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Ролі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розподіляються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на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основі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особистих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уподобань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кожного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члена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команди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ctr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3259582"/>
            <a:ext cx="16230600" cy="522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Планування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та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аналіз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аналіз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потреб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створення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беклогу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вибір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технологій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Проєктування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архітектури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розробка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структури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БД,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проєктування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API.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Розробка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Core-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логіки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(Backend)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алгоритм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генератора,система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БЖВ ,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Безпека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Реалізація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інтерфейсу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(Frontend)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динамічні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сторінки,User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Experience.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 smtClean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Тестування</a:t>
            </a:r>
            <a:r>
              <a:rPr lang="en-US" sz="2899" b="1" spc="-57" dirty="0" smtClean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та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розгортання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перевірка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функціональності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всіх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компонентів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,CI/CD.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5160864" y="8862060"/>
            <a:ext cx="2098436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790700"/>
            <a:ext cx="5615367" cy="662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lang="en-US" sz="3899" i="1" spc="-155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Етапи: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858015"/>
            <a:ext cx="4073587" cy="679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i="1" spc="-79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Бізнес процеси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4165609"/>
            <a:ext cx="4477275" cy="3191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5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PantryChef відповідає зростаючому попиту на персоналізоване харчування, автоматизацію планування та зменшення харчових відходів.</a:t>
            </a:r>
          </a:p>
          <a:p>
            <a:pPr algn="l">
              <a:lnSpc>
                <a:spcPts val="3639"/>
              </a:lnSpc>
            </a:pPr>
            <a:endParaRPr lang="en-US" sz="2599" spc="-51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905362" y="4165609"/>
            <a:ext cx="4477275" cy="5477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5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Додаток буде створено для зайнятих людей, родин, спортсменів і тих, хто дбає про здоров’я. На відміну від звичайних застосунків із рецептами, PantryChef пропонує розумне планування раціону, облік інгредієнтів і аналіз харчування під потреби користувача.</a:t>
            </a:r>
          </a:p>
          <a:p>
            <a:pPr algn="l">
              <a:lnSpc>
                <a:spcPts val="3639"/>
              </a:lnSpc>
            </a:pPr>
            <a:endParaRPr lang="en-US" sz="2599" spc="-51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782813" y="4165609"/>
            <a:ext cx="4477275" cy="3648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5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У той час як більшість сервісів не мають автоматизації та управління запасами, PantryChef вирізняється поєднанням здоров’я, зручності та сталого підходу.</a:t>
            </a:r>
          </a:p>
          <a:p>
            <a:pPr algn="l">
              <a:lnSpc>
                <a:spcPts val="3639"/>
              </a:lnSpc>
            </a:pPr>
            <a:endParaRPr lang="en-US" sz="2599" spc="-51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3206755"/>
            <a:ext cx="39836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103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926445" y="3206755"/>
            <a:ext cx="39836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103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782025" y="3206755"/>
            <a:ext cx="39836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103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1222950" y="2881210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4" name="TextBox 4"/>
          <p:cNvSpPr txBox="1"/>
          <p:nvPr/>
        </p:nvSpPr>
        <p:spPr>
          <a:xfrm>
            <a:off x="1222950" y="1686876"/>
            <a:ext cx="6416152" cy="6611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9"/>
              </a:lnSpc>
              <a:spcBef>
                <a:spcPct val="0"/>
              </a:spcBef>
            </a:pP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Технологічний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стек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:</a:t>
            </a:r>
          </a:p>
        </p:txBody>
      </p:sp>
      <p:sp>
        <p:nvSpPr>
          <p:cNvPr id="5" name="AutoShape 5"/>
          <p:cNvSpPr/>
          <p:nvPr/>
        </p:nvSpPr>
        <p:spPr>
          <a:xfrm>
            <a:off x="1222950" y="3908647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6" name="AutoShape 6"/>
          <p:cNvSpPr/>
          <p:nvPr/>
        </p:nvSpPr>
        <p:spPr>
          <a:xfrm>
            <a:off x="1222950" y="4936083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7" name="AutoShape 7"/>
          <p:cNvSpPr/>
          <p:nvPr/>
        </p:nvSpPr>
        <p:spPr>
          <a:xfrm>
            <a:off x="1222950" y="5963520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8" name="AutoShape 8"/>
          <p:cNvSpPr/>
          <p:nvPr/>
        </p:nvSpPr>
        <p:spPr>
          <a:xfrm>
            <a:off x="1222950" y="6990957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9" name="AutoShape 9"/>
          <p:cNvSpPr/>
          <p:nvPr/>
        </p:nvSpPr>
        <p:spPr>
          <a:xfrm>
            <a:off x="1222950" y="8018393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0" name="TextBox 10"/>
          <p:cNvSpPr txBox="1"/>
          <p:nvPr/>
        </p:nvSpPr>
        <p:spPr>
          <a:xfrm>
            <a:off x="3656671" y="2644990"/>
            <a:ext cx="2650616" cy="1012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Мова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C#</a:t>
            </a:r>
          </a:p>
          <a:p>
            <a:pPr algn="ctr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656671" y="3631152"/>
            <a:ext cx="11294271" cy="1012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Платформа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.NET (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сучасний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.NET 6/7/8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або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.NET Framework)</a:t>
            </a:r>
          </a:p>
          <a:p>
            <a:pPr algn="ctr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962400" y="4617313"/>
            <a:ext cx="7659134" cy="10515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Backend-</a:t>
            </a:r>
            <a:r>
              <a:rPr lang="en-US" sz="2899" b="1" u="sng" spc="-57" dirty="0" err="1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фреймворк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ASP.NET Core MVC</a:t>
            </a:r>
          </a:p>
          <a:p>
            <a:pPr algn="ctr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114800" y="5686025"/>
            <a:ext cx="5189006" cy="5257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Frontend :</a:t>
            </a:r>
            <a:r>
              <a:rPr lang="uk-UA" sz="2899" b="1" u="sng" spc="-57" dirty="0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3200" dirty="0" smtClean="0"/>
              <a:t>Razor </a:t>
            </a:r>
            <a:r>
              <a:rPr lang="en-US" sz="3200" dirty="0"/>
              <a:t>(HTML + C#)</a:t>
            </a:r>
            <a:r>
              <a:rPr lang="en-US" sz="2899" spc="-57" dirty="0" smtClean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656671" y="6669640"/>
            <a:ext cx="5254383" cy="49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Бази даних:</a:t>
            </a:r>
            <a:r>
              <a:rPr lang="en-US" sz="2899" spc="-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PostgreSQL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656671" y="7653256"/>
            <a:ext cx="9678329" cy="5257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Інструменти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Visual Studio,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JetBrains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 smtClean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або</a:t>
            </a:r>
            <a:r>
              <a:rPr lang="en-US" sz="2899" spc="-57" dirty="0" smtClean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VS 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862060"/>
            <a:ext cx="2547610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-48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КОМАНДА:</a:t>
            </a:r>
          </a:p>
        </p:txBody>
      </p:sp>
      <p:sp>
        <p:nvSpPr>
          <p:cNvPr id="3" name="AutoShape 3"/>
          <p:cNvSpPr/>
          <p:nvPr/>
        </p:nvSpPr>
        <p:spPr>
          <a:xfrm>
            <a:off x="3576310" y="9079230"/>
            <a:ext cx="5588773" cy="0"/>
          </a:xfrm>
          <a:prstGeom prst="line">
            <a:avLst/>
          </a:prstGeom>
          <a:ln w="9525" cap="flat">
            <a:solidFill>
              <a:srgbClr val="36211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2870204" y="4035928"/>
            <a:ext cx="12547592" cy="160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12000" spc="-480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ДЯКУЄМО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662490" y="5847212"/>
            <a:ext cx="10963021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За увагу!</a:t>
            </a:r>
          </a:p>
        </p:txBody>
      </p:sp>
      <p:sp>
        <p:nvSpPr>
          <p:cNvPr id="6" name="Freeform 6"/>
          <p:cNvSpPr/>
          <p:nvPr/>
        </p:nvSpPr>
        <p:spPr>
          <a:xfrm>
            <a:off x="0" y="9910777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9165083" y="8862060"/>
            <a:ext cx="2788261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Боцьків Любомир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451095" y="8862060"/>
            <a:ext cx="1998594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Галух Антон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947441" y="8862060"/>
            <a:ext cx="2311859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Галух Валентин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910777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406104" y="1028700"/>
            <a:ext cx="6286802" cy="5375447"/>
          </a:xfrm>
          <a:custGeom>
            <a:avLst/>
            <a:gdLst/>
            <a:ahLst/>
            <a:cxnLst/>
            <a:rect l="l" t="t" r="r" b="b"/>
            <a:pathLst>
              <a:path w="6286802" h="5375447">
                <a:moveTo>
                  <a:pt x="0" y="0"/>
                </a:moveTo>
                <a:lnTo>
                  <a:pt x="6286802" y="0"/>
                </a:lnTo>
                <a:lnTo>
                  <a:pt x="6286802" y="5375447"/>
                </a:lnTo>
                <a:lnTo>
                  <a:pt x="0" y="53754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3662490" y="6743591"/>
            <a:ext cx="10963021" cy="1261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Якщо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у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Вас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залишились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якісь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запитання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-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тримайте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їх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при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собі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, я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Вам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не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Google :)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617</Words>
  <Application>Microsoft Office PowerPoint</Application>
  <PresentationFormat>Довільний</PresentationFormat>
  <Paragraphs>70</Paragraphs>
  <Slides>13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13</vt:i4>
      </vt:variant>
    </vt:vector>
  </HeadingPairs>
  <TitlesOfParts>
    <vt:vector size="20" baseType="lpstr">
      <vt:lpstr>Arial</vt:lpstr>
      <vt:lpstr>IBM Plex Serif</vt:lpstr>
      <vt:lpstr>Canva Sans Bold</vt:lpstr>
      <vt:lpstr>Calibri</vt:lpstr>
      <vt:lpstr>Canva Sans</vt:lpstr>
      <vt:lpstr>IBM Plex Serif Italics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Команда:</dc:title>
  <cp:lastModifiedBy>HP</cp:lastModifiedBy>
  <cp:revision>4</cp:revision>
  <dcterms:created xsi:type="dcterms:W3CDTF">2006-08-16T00:00:00Z</dcterms:created>
  <dcterms:modified xsi:type="dcterms:W3CDTF">2026-02-26T21:03:17Z</dcterms:modified>
  <dc:identifier>DAHB41DBVZQ</dc:identifier>
</cp:coreProperties>
</file>