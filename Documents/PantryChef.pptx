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</p:sldIdLst>
  <p:sldSz cx="18288000" cy="10287000"/>
  <p:notesSz cx="6858000" cy="9144000"/>
  <p:embeddedFontLst>
    <p:embeddedFont>
      <p:font typeface="IBM Plex Serif Italics" panose="020B0604020202020204" charset="-52"/>
      <p:regular r:id="rId13"/>
    </p:embeddedFont>
    <p:embeddedFont>
      <p:font typeface="IBM Plex Serif" panose="020B0604020202020204" charset="-52"/>
      <p:regular r:id="rId14"/>
    </p:embeddedFont>
    <p:embeddedFont>
      <p:font typeface="Canva Sans Bold" panose="020B0604020202020204" charset="0"/>
      <p:regular r:id="rId15"/>
    </p:embeddedFont>
    <p:embeddedFont>
      <p:font typeface="Canva Sans" panose="020B0604020202020204" charset="0"/>
      <p:regular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4" d="100"/>
          <a:sy n="54" d="100"/>
        </p:scale>
        <p:origin x="-706" y="-10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‹№›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268200" y="7429500"/>
            <a:ext cx="2547610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spc="-48" dirty="0">
                <a:solidFill>
                  <a:srgbClr val="3621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КОМАНДА: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478000" y="7429500"/>
            <a:ext cx="3533436" cy="2180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uk-UA" sz="2400" spc="-48" dirty="0" err="1" smtClean="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Галух</a:t>
            </a:r>
            <a:r>
              <a:rPr lang="uk-UA" sz="2400" spc="-48" dirty="0" smtClean="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 Антон   </a:t>
            </a:r>
          </a:p>
          <a:p>
            <a:pPr>
              <a:lnSpc>
                <a:spcPts val="3359"/>
              </a:lnSpc>
            </a:pPr>
            <a:r>
              <a:rPr lang="uk-UA" sz="2400" spc="-48" dirty="0" smtClean="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Ковальчук  Влад</a:t>
            </a:r>
          </a:p>
          <a:p>
            <a:pPr>
              <a:lnSpc>
                <a:spcPts val="3359"/>
              </a:lnSpc>
            </a:pPr>
            <a:r>
              <a:rPr lang="uk-UA" sz="2400" spc="-48" dirty="0" err="1" smtClean="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Джавала</a:t>
            </a:r>
            <a:r>
              <a:rPr lang="uk-UA" sz="2400" spc="-48" dirty="0" smtClean="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 Анна</a:t>
            </a:r>
          </a:p>
          <a:p>
            <a:pPr>
              <a:lnSpc>
                <a:spcPts val="3359"/>
              </a:lnSpc>
            </a:pPr>
            <a:r>
              <a:rPr lang="uk-UA" sz="2400" spc="-48" dirty="0" err="1" smtClean="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Кахновець</a:t>
            </a:r>
            <a:r>
              <a:rPr lang="uk-UA" sz="2400" spc="-48" dirty="0" smtClean="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 Андрій</a:t>
            </a:r>
          </a:p>
          <a:p>
            <a:pPr>
              <a:lnSpc>
                <a:spcPts val="3359"/>
              </a:lnSpc>
            </a:pPr>
            <a:r>
              <a:rPr lang="uk-UA" sz="2400" spc="-48" dirty="0" err="1" smtClean="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Чвартковська</a:t>
            </a:r>
            <a:r>
              <a:rPr lang="uk-UA" sz="2400" spc="-48" dirty="0" smtClean="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 Соломія</a:t>
            </a:r>
            <a:endParaRPr lang="en-US" sz="2400" spc="-48" dirty="0">
              <a:solidFill>
                <a:srgbClr val="36211B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662490" y="2993003"/>
            <a:ext cx="10963021" cy="160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12000" spc="-480">
                <a:solidFill>
                  <a:srgbClr val="36211B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PANTRYCHEF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662490" y="5524500"/>
            <a:ext cx="10963021" cy="1261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i="1" spc="-144" dirty="0" err="1">
                <a:solidFill>
                  <a:srgbClr val="36211B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Інноваційний</a:t>
            </a:r>
            <a:r>
              <a:rPr lang="en-US" sz="3600" i="1" spc="-144" dirty="0">
                <a:solidFill>
                  <a:srgbClr val="36211B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 </a:t>
            </a:r>
            <a:r>
              <a:rPr lang="en-US" sz="3600" i="1" spc="-144" dirty="0" err="1">
                <a:solidFill>
                  <a:srgbClr val="36211B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підхід</a:t>
            </a:r>
            <a:r>
              <a:rPr lang="en-US" sz="3600" i="1" spc="-144" dirty="0">
                <a:solidFill>
                  <a:srgbClr val="36211B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 </a:t>
            </a:r>
            <a:r>
              <a:rPr lang="en-US" sz="3600" i="1" spc="-144" dirty="0" err="1">
                <a:solidFill>
                  <a:srgbClr val="36211B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до</a:t>
            </a:r>
            <a:r>
              <a:rPr lang="en-US" sz="3600" i="1" spc="-144" dirty="0">
                <a:solidFill>
                  <a:srgbClr val="36211B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 </a:t>
            </a:r>
            <a:r>
              <a:rPr lang="en-US" sz="3600" i="1" spc="-144" dirty="0" err="1">
                <a:solidFill>
                  <a:srgbClr val="36211B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планування</a:t>
            </a:r>
            <a:r>
              <a:rPr lang="en-US" sz="3600" i="1" spc="-144" dirty="0">
                <a:solidFill>
                  <a:srgbClr val="36211B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 </a:t>
            </a:r>
            <a:r>
              <a:rPr lang="en-US" sz="3600" i="1" spc="-144" dirty="0" err="1">
                <a:solidFill>
                  <a:srgbClr val="36211B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вашого</a:t>
            </a:r>
            <a:r>
              <a:rPr lang="en-US" sz="3600" i="1" spc="-144" dirty="0">
                <a:solidFill>
                  <a:srgbClr val="36211B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 </a:t>
            </a:r>
            <a:r>
              <a:rPr lang="en-US" sz="3600" i="1" spc="-144" dirty="0" err="1">
                <a:solidFill>
                  <a:srgbClr val="36211B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раціону</a:t>
            </a:r>
            <a:r>
              <a:rPr lang="en-US" sz="3600" i="1" spc="-144" dirty="0">
                <a:solidFill>
                  <a:srgbClr val="36211B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: </a:t>
            </a:r>
            <a:r>
              <a:rPr lang="en-US" sz="3600" i="1" spc="-144" dirty="0" err="1">
                <a:solidFill>
                  <a:srgbClr val="36211B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від</a:t>
            </a:r>
            <a:r>
              <a:rPr lang="en-US" sz="3600" i="1" spc="-144" dirty="0">
                <a:solidFill>
                  <a:srgbClr val="36211B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 </a:t>
            </a:r>
            <a:r>
              <a:rPr lang="en-US" sz="3600" i="1" spc="-144" dirty="0" err="1">
                <a:solidFill>
                  <a:srgbClr val="36211B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контролю</a:t>
            </a:r>
            <a:r>
              <a:rPr lang="en-US" sz="3600" i="1" spc="-144" dirty="0">
                <a:solidFill>
                  <a:srgbClr val="36211B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 </a:t>
            </a:r>
            <a:r>
              <a:rPr lang="en-US" sz="3600" i="1" spc="-144" dirty="0" err="1">
                <a:solidFill>
                  <a:srgbClr val="36211B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холодильника</a:t>
            </a:r>
            <a:r>
              <a:rPr lang="en-US" sz="3600" i="1" spc="-144" dirty="0">
                <a:solidFill>
                  <a:srgbClr val="36211B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 </a:t>
            </a:r>
            <a:r>
              <a:rPr lang="en-US" sz="3600" i="1" spc="-144" dirty="0" err="1">
                <a:solidFill>
                  <a:srgbClr val="36211B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до</a:t>
            </a:r>
            <a:r>
              <a:rPr lang="en-US" sz="3600" i="1" spc="-144" dirty="0">
                <a:solidFill>
                  <a:srgbClr val="36211B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 </a:t>
            </a:r>
            <a:r>
              <a:rPr lang="en-US" sz="3600" i="1" spc="-144" dirty="0" err="1">
                <a:solidFill>
                  <a:srgbClr val="36211B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досягнення</a:t>
            </a:r>
            <a:r>
              <a:rPr lang="en-US" sz="3600" i="1" spc="-144" dirty="0">
                <a:solidFill>
                  <a:srgbClr val="36211B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 </a:t>
            </a:r>
            <a:r>
              <a:rPr lang="en-US" sz="3600" i="1" spc="-144" dirty="0" err="1">
                <a:solidFill>
                  <a:srgbClr val="36211B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цілей</a:t>
            </a:r>
            <a:endParaRPr lang="en-US" sz="3600" i="1" spc="-144" dirty="0">
              <a:solidFill>
                <a:srgbClr val="36211B"/>
              </a:solidFill>
              <a:latin typeface="IBM Plex Serif Italics"/>
              <a:ea typeface="IBM Plex Serif Italics"/>
              <a:cs typeface="IBM Plex Serif Italics"/>
              <a:sym typeface="IBM Plex Serif Italics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0" y="9910777"/>
            <a:ext cx="18288000" cy="376223"/>
          </a:xfrm>
          <a:custGeom>
            <a:avLst/>
            <a:gdLst/>
            <a:ahLst/>
            <a:cxnLst/>
            <a:rect l="l" t="t" r="r" b="b"/>
            <a:pathLst>
              <a:path w="18288000" h="376223">
                <a:moveTo>
                  <a:pt x="0" y="0"/>
                </a:moveTo>
                <a:lnTo>
                  <a:pt x="18288000" y="0"/>
                </a:lnTo>
                <a:lnTo>
                  <a:pt x="18288000" y="376223"/>
                </a:lnTo>
                <a:lnTo>
                  <a:pt x="0" y="3762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31929" b="-1102351"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376223"/>
          </a:xfrm>
          <a:custGeom>
            <a:avLst/>
            <a:gdLst/>
            <a:ahLst/>
            <a:cxnLst/>
            <a:rect l="l" t="t" r="r" b="b"/>
            <a:pathLst>
              <a:path w="18288000" h="376223">
                <a:moveTo>
                  <a:pt x="0" y="0"/>
                </a:moveTo>
                <a:lnTo>
                  <a:pt x="18288000" y="0"/>
                </a:lnTo>
                <a:lnTo>
                  <a:pt x="18288000" y="376223"/>
                </a:lnTo>
                <a:lnTo>
                  <a:pt x="0" y="3762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31929" b="-110235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584078"/>
            <a:ext cx="4477275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i="1" spc="-144">
                <a:solidFill>
                  <a:srgbClr val="36211B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Ідея та ціль продукту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445138"/>
            <a:ext cx="4477275" cy="3887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spc="-44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Проєкт має на меті спростити процес планування харчування, дозволяючи користувачам швидко отримувати збалансоване меню з різноманітними стравами. Додаток генерує рецепти на основі вашої цільової кількості калорій та наявних інгредієнтів.</a:t>
            </a:r>
          </a:p>
          <a:p>
            <a:pPr algn="l">
              <a:lnSpc>
                <a:spcPts val="3080"/>
              </a:lnSpc>
            </a:pPr>
            <a:endParaRPr lang="en-US" sz="2200" spc="-44">
              <a:solidFill>
                <a:srgbClr val="36211B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755706" y="1584078"/>
            <a:ext cx="4477275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i="1" spc="-144">
                <a:solidFill>
                  <a:srgbClr val="36211B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Актуальність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905362" y="2445138"/>
            <a:ext cx="4477275" cy="310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spc="-44" dirty="0" err="1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Люди</a:t>
            </a:r>
            <a:r>
              <a:rPr lang="en-US" sz="2200" spc="-44" dirty="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200" spc="-44" dirty="0" err="1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часто</a:t>
            </a:r>
            <a:r>
              <a:rPr lang="en-US" sz="2200" spc="-44" dirty="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200" spc="-44" dirty="0" err="1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витрачають</a:t>
            </a:r>
            <a:r>
              <a:rPr lang="en-US" sz="2200" spc="-44" dirty="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200" spc="-44" dirty="0" err="1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багато</a:t>
            </a:r>
            <a:r>
              <a:rPr lang="en-US" sz="2200" spc="-44" dirty="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200" spc="-44" dirty="0" err="1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часу</a:t>
            </a:r>
            <a:r>
              <a:rPr lang="en-US" sz="2200" spc="-44" dirty="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200" spc="-44" dirty="0" err="1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на</a:t>
            </a:r>
            <a:r>
              <a:rPr lang="en-US" sz="2200" spc="-44" dirty="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200" spc="-44" dirty="0" err="1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планування</a:t>
            </a:r>
            <a:r>
              <a:rPr lang="en-US" sz="2200" spc="-44" dirty="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200" spc="-44" dirty="0" err="1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своїх</a:t>
            </a:r>
            <a:r>
              <a:rPr lang="en-US" sz="2200" spc="-44" dirty="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200" spc="-44" dirty="0" err="1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страв</a:t>
            </a:r>
            <a:r>
              <a:rPr lang="en-US" sz="2200" spc="-44" dirty="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200" spc="-44" dirty="0" err="1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та</a:t>
            </a:r>
            <a:r>
              <a:rPr lang="en-US" sz="2200" spc="-44" dirty="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200" spc="-44" dirty="0" err="1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пошук</a:t>
            </a:r>
            <a:r>
              <a:rPr lang="en-US" sz="2200" spc="-44" dirty="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200" spc="-44" dirty="0" err="1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рецептів</a:t>
            </a:r>
            <a:r>
              <a:rPr lang="en-US" sz="2200" spc="-44" dirty="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. </a:t>
            </a:r>
            <a:r>
              <a:rPr lang="en-US" sz="2200" spc="-44" dirty="0" err="1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Наш</a:t>
            </a:r>
            <a:r>
              <a:rPr lang="en-US" sz="2200" spc="-44" dirty="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200" spc="-44" dirty="0" err="1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додаток</a:t>
            </a:r>
            <a:r>
              <a:rPr lang="en-US" sz="2200" spc="-44" dirty="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200" spc="-44" dirty="0" err="1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автоматизує</a:t>
            </a:r>
            <a:r>
              <a:rPr lang="en-US" sz="2200" spc="-44" dirty="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200" spc="-44" dirty="0" err="1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цей</a:t>
            </a:r>
            <a:r>
              <a:rPr lang="en-US" sz="2200" spc="-44" dirty="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200" spc="-44" dirty="0" err="1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процес</a:t>
            </a:r>
            <a:r>
              <a:rPr lang="en-US" sz="2200" spc="-44" dirty="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2200" spc="-44" dirty="0" err="1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пропонуючи</a:t>
            </a:r>
            <a:r>
              <a:rPr lang="en-US" sz="2200" spc="-44" dirty="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200" spc="-44" dirty="0" err="1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готові</a:t>
            </a:r>
            <a:r>
              <a:rPr lang="en-US" sz="2200" spc="-44" dirty="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200" spc="-44" dirty="0" err="1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варіанти</a:t>
            </a:r>
            <a:r>
              <a:rPr lang="en-US" sz="2200" spc="-44" dirty="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200" spc="-44" dirty="0" err="1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страв</a:t>
            </a:r>
            <a:r>
              <a:rPr lang="en-US" sz="2200" spc="-44" dirty="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200" spc="-44" dirty="0" err="1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без</a:t>
            </a:r>
            <a:r>
              <a:rPr lang="en-US" sz="2200" spc="-44" dirty="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200" spc="-44" dirty="0" err="1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необхідності</a:t>
            </a:r>
            <a:r>
              <a:rPr lang="en-US" sz="2200" spc="-44" dirty="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200" spc="-44" dirty="0" err="1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вибирати</a:t>
            </a:r>
            <a:r>
              <a:rPr lang="en-US" sz="2200" spc="-44" dirty="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200" spc="-44" dirty="0" err="1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страви</a:t>
            </a:r>
            <a:r>
              <a:rPr lang="en-US" sz="2200" spc="-44" dirty="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200" spc="-44" dirty="0" err="1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вручну</a:t>
            </a:r>
            <a:r>
              <a:rPr lang="en-US" sz="2200" spc="-44" dirty="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l">
              <a:lnSpc>
                <a:spcPts val="3080"/>
              </a:lnSpc>
            </a:pPr>
            <a:endParaRPr lang="en-US" sz="2200" spc="-44" dirty="0">
              <a:solidFill>
                <a:srgbClr val="36211B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2582843" y="1584078"/>
            <a:ext cx="4477275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i="1" spc="-144">
                <a:solidFill>
                  <a:srgbClr val="36211B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Унікальність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582843" y="2445138"/>
            <a:ext cx="4477275" cy="7792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spc="-44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На відміну від інших сервісів, наш пропонує комплексний підхід до харчування, поєднуючи персоналізацію, зручність та ефективність. Персоналізований підхід – враховує дієтичні потреби, споживання калорій тощо. Гнучке планування харчування – дозволяє користувачам змінювати страви та коригувати меню відповідно до уподобань. Відстеження запасів – унікальна функція, яка допомагає контролювати доступні інгредієнти та уникати непотрібних витрат. Аналіз харчової цінності – автоматично розраховує калорії та поживні речовини для кожного рецепту.</a:t>
            </a:r>
          </a:p>
          <a:p>
            <a:pPr algn="l">
              <a:lnSpc>
                <a:spcPts val="3080"/>
              </a:lnSpc>
            </a:pPr>
            <a:endParaRPr lang="en-US" sz="2200" spc="-44">
              <a:solidFill>
                <a:srgbClr val="36211B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700" y="981075"/>
            <a:ext cx="398364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-96">
                <a:solidFill>
                  <a:srgbClr val="36211B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905362" y="981075"/>
            <a:ext cx="398364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-96">
                <a:solidFill>
                  <a:srgbClr val="36211B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582843" y="981075"/>
            <a:ext cx="398364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-96">
                <a:solidFill>
                  <a:srgbClr val="36211B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376223"/>
          </a:xfrm>
          <a:custGeom>
            <a:avLst/>
            <a:gdLst/>
            <a:ahLst/>
            <a:cxnLst/>
            <a:rect l="l" t="t" r="r" b="b"/>
            <a:pathLst>
              <a:path w="18288000" h="376223">
                <a:moveTo>
                  <a:pt x="0" y="0"/>
                </a:moveTo>
                <a:lnTo>
                  <a:pt x="18288000" y="0"/>
                </a:lnTo>
                <a:lnTo>
                  <a:pt x="18288000" y="376223"/>
                </a:lnTo>
                <a:lnTo>
                  <a:pt x="0" y="3762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31929" b="-110235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038796" y="1231343"/>
            <a:ext cx="4210407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i="1" spc="-159">
                <a:solidFill>
                  <a:srgbClr val="000000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Цінність продукту </a:t>
            </a:r>
          </a:p>
        </p:txBody>
      </p:sp>
      <p:sp>
        <p:nvSpPr>
          <p:cNvPr id="4" name="AutoShape 4"/>
          <p:cNvSpPr/>
          <p:nvPr/>
        </p:nvSpPr>
        <p:spPr>
          <a:xfrm>
            <a:off x="1028700" y="3038813"/>
            <a:ext cx="139158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5" name="TextBox 5"/>
          <p:cNvSpPr txBox="1"/>
          <p:nvPr/>
        </p:nvSpPr>
        <p:spPr>
          <a:xfrm>
            <a:off x="2048866" y="2784963"/>
            <a:ext cx="15210434" cy="1526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spc="-11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</a:t>
            </a:r>
            <a:r>
              <a:rPr lang="en-US" sz="2900" b="1" spc="-11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Економія часу: </a:t>
            </a:r>
            <a:r>
              <a:rPr lang="en-US" sz="2900" spc="-11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Автоматизоване планування харчування усуває необхідність вручну підбирати рецепти та складати меню.</a:t>
            </a:r>
          </a:p>
          <a:p>
            <a:pPr algn="ctr">
              <a:lnSpc>
                <a:spcPts val="4060"/>
              </a:lnSpc>
              <a:spcBef>
                <a:spcPct val="0"/>
              </a:spcBef>
            </a:pPr>
            <a:endParaRPr lang="en-US" sz="2900" spc="-116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028700" y="4311503"/>
            <a:ext cx="139158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7" name="TextBox 7"/>
          <p:cNvSpPr txBox="1"/>
          <p:nvPr/>
        </p:nvSpPr>
        <p:spPr>
          <a:xfrm>
            <a:off x="2420280" y="4065059"/>
            <a:ext cx="14587238" cy="1012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b="1" spc="-116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Монетизація</a:t>
            </a:r>
            <a:r>
              <a:rPr lang="en-US" sz="2900" b="1" spc="-116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  <a:r>
              <a:rPr lang="en-US" sz="2900" spc="-11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00" spc="-116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Можливість</a:t>
            </a:r>
            <a:r>
              <a:rPr lang="en-US" sz="2900" spc="-11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00" spc="-116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впровадження</a:t>
            </a:r>
            <a:r>
              <a:rPr lang="en-US" sz="2900" spc="-11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00" spc="-116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преміум-функцій</a:t>
            </a:r>
            <a:r>
              <a:rPr lang="en-US" sz="2900" spc="-11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2900" spc="-116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підписок</a:t>
            </a:r>
            <a:r>
              <a:rPr lang="en-US" sz="2900" spc="-11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00" spc="-116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або</a:t>
            </a:r>
            <a:r>
              <a:rPr lang="en-US" sz="2900" spc="-11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00" spc="-116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реклами</a:t>
            </a:r>
            <a:r>
              <a:rPr lang="en-US" sz="2900" spc="-11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00" spc="-116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партнерських</a:t>
            </a:r>
            <a:r>
              <a:rPr lang="en-US" sz="2900" spc="-11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00" spc="-116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сервісів</a:t>
            </a:r>
            <a:r>
              <a:rPr lang="en-US" sz="2900" spc="-11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(</a:t>
            </a:r>
            <a:r>
              <a:rPr lang="en-US" sz="2900" spc="-116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рецепти</a:t>
            </a:r>
            <a:r>
              <a:rPr lang="en-US" sz="2900" spc="-11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2900" spc="-116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кулінарні</a:t>
            </a:r>
            <a:r>
              <a:rPr lang="en-US" sz="2900" spc="-11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00" spc="-116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бренди</a:t>
            </a:r>
            <a:r>
              <a:rPr lang="en-US" sz="2900" spc="-11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00" spc="-116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тощо</a:t>
            </a:r>
            <a:r>
              <a:rPr lang="en-US" sz="2900" spc="-11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).</a:t>
            </a:r>
          </a:p>
        </p:txBody>
      </p:sp>
      <p:sp>
        <p:nvSpPr>
          <p:cNvPr id="8" name="AutoShape 8"/>
          <p:cNvSpPr/>
          <p:nvPr/>
        </p:nvSpPr>
        <p:spPr>
          <a:xfrm>
            <a:off x="1028700" y="5720454"/>
            <a:ext cx="139158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9" name="TextBox 9"/>
          <p:cNvSpPr txBox="1"/>
          <p:nvPr/>
        </p:nvSpPr>
        <p:spPr>
          <a:xfrm>
            <a:off x="2420280" y="5429205"/>
            <a:ext cx="14839020" cy="1526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b="1" spc="-116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Партнерські</a:t>
            </a:r>
            <a:r>
              <a:rPr lang="en-US" sz="2900" b="1" spc="-116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900" b="1" spc="-116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інтеграції</a:t>
            </a:r>
            <a:r>
              <a:rPr lang="en-US" sz="2900" b="1" spc="-116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  <a:r>
              <a:rPr lang="en-US" sz="2900" spc="-11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00" spc="-116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Співпраця</a:t>
            </a:r>
            <a:r>
              <a:rPr lang="en-US" sz="2900" spc="-11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з </a:t>
            </a:r>
            <a:r>
              <a:rPr lang="en-US" sz="2900" spc="-116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платформами</a:t>
            </a:r>
            <a:r>
              <a:rPr lang="en-US" sz="2900" spc="-11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00" spc="-116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доставки</a:t>
            </a:r>
            <a:r>
              <a:rPr lang="en-US" sz="2900" spc="-11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00" spc="-116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їжі</a:t>
            </a:r>
            <a:r>
              <a:rPr lang="en-US" sz="2900" spc="-11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00" spc="-116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або</a:t>
            </a:r>
            <a:r>
              <a:rPr lang="en-US" sz="2900" spc="-11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00" spc="-116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продуктів</a:t>
            </a:r>
            <a:r>
              <a:rPr lang="en-US" sz="2900" spc="-11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00" spc="-116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може</a:t>
            </a:r>
            <a:r>
              <a:rPr lang="en-US" sz="2900" spc="-11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00" spc="-116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розширити</a:t>
            </a:r>
            <a:r>
              <a:rPr lang="en-US" sz="2900" spc="-11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00" spc="-116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функціональність</a:t>
            </a:r>
            <a:r>
              <a:rPr lang="en-US" sz="2900" spc="-11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00" spc="-116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та</a:t>
            </a:r>
            <a:r>
              <a:rPr lang="en-US" sz="2900" spc="-11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00" spc="-116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збільшити</a:t>
            </a:r>
            <a:r>
              <a:rPr lang="en-US" sz="2900" spc="-11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00" spc="-116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дохід</a:t>
            </a:r>
            <a:r>
              <a:rPr lang="en-US" sz="2900" spc="-11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ctr">
              <a:lnSpc>
                <a:spcPts val="4060"/>
              </a:lnSpc>
              <a:spcBef>
                <a:spcPct val="0"/>
              </a:spcBef>
            </a:pPr>
            <a:endParaRPr lang="en-US" sz="2900" spc="-116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028700" y="7318698"/>
            <a:ext cx="139158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1" name="TextBox 11"/>
          <p:cNvSpPr txBox="1"/>
          <p:nvPr/>
        </p:nvSpPr>
        <p:spPr>
          <a:xfrm>
            <a:off x="2719073" y="7047991"/>
            <a:ext cx="14540227" cy="1577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uk-UA" sz="2900" b="1" spc="-116" dirty="0" smtClean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</a:t>
            </a:r>
            <a:r>
              <a:rPr lang="en-US" sz="2900" b="1" spc="-116" dirty="0" err="1" smtClean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Масштабованість</a:t>
            </a:r>
            <a:r>
              <a:rPr lang="en-US" sz="2900" b="1" spc="-116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 </a:t>
            </a:r>
            <a:r>
              <a:rPr lang="en-US" sz="2900" spc="-116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Проєкт</a:t>
            </a:r>
            <a:r>
              <a:rPr lang="en-US" sz="2900" spc="-11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00" spc="-116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можна</a:t>
            </a:r>
            <a:r>
              <a:rPr lang="en-US" sz="2900" spc="-11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00" spc="-116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адаптувати</a:t>
            </a:r>
            <a:r>
              <a:rPr lang="en-US" sz="2900" spc="-11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00" spc="-116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під</a:t>
            </a:r>
            <a:r>
              <a:rPr lang="en-US" sz="2900" spc="-11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00" spc="-116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різні</a:t>
            </a:r>
            <a:r>
              <a:rPr lang="en-US" sz="2900" spc="-11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00" spc="-116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ринки</a:t>
            </a:r>
            <a:r>
              <a:rPr lang="en-US" sz="2900" spc="-11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00" spc="-116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та</a:t>
            </a:r>
            <a:r>
              <a:rPr lang="en-US" sz="2900" spc="-11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00" spc="-116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потреби</a:t>
            </a:r>
            <a:r>
              <a:rPr lang="en-US" sz="2900" spc="-11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00" spc="-116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користувачів</a:t>
            </a:r>
            <a:r>
              <a:rPr lang="en-US" sz="2900" spc="-11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2900" spc="-116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що</a:t>
            </a:r>
            <a:r>
              <a:rPr lang="en-US" sz="2900" spc="-11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00" spc="-116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забезпечує</a:t>
            </a:r>
            <a:r>
              <a:rPr lang="en-US" sz="2900" spc="-11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00" spc="-116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перспективи</a:t>
            </a:r>
            <a:r>
              <a:rPr lang="en-US" sz="2900" spc="-11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900" spc="-116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розвитку</a:t>
            </a:r>
            <a:r>
              <a:rPr lang="en-US" sz="2900" spc="-11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ctr">
              <a:lnSpc>
                <a:spcPts val="4060"/>
              </a:lnSpc>
              <a:spcBef>
                <a:spcPct val="0"/>
              </a:spcBef>
            </a:pPr>
            <a:endParaRPr lang="en-US" sz="2900" spc="-116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376223"/>
          </a:xfrm>
          <a:custGeom>
            <a:avLst/>
            <a:gdLst/>
            <a:ahLst/>
            <a:cxnLst/>
            <a:rect l="l" t="t" r="r" b="b"/>
            <a:pathLst>
              <a:path w="18288000" h="376223">
                <a:moveTo>
                  <a:pt x="0" y="0"/>
                </a:moveTo>
                <a:lnTo>
                  <a:pt x="18288000" y="0"/>
                </a:lnTo>
                <a:lnTo>
                  <a:pt x="18288000" y="376223"/>
                </a:lnTo>
                <a:lnTo>
                  <a:pt x="0" y="3762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31929" b="-110235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2726023"/>
            <a:ext cx="16230600" cy="6155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7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 b="1" u="sng" spc="-57">
                <a:solidFill>
                  <a:srgbClr val="3621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Бізнес-цінність:</a:t>
            </a:r>
          </a:p>
          <a:p>
            <a:pPr algn="l">
              <a:lnSpc>
                <a:spcPts val="4059"/>
              </a:lnSpc>
            </a:pPr>
            <a:r>
              <a:rPr lang="en-US" sz="2899" spc="-57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Проект надаватиме користувачам ефективний інструмент для автоматизованого планування харчування, заощаджуючи час і спрощуючи процес вибору страв. Це підвищує залученість користувачів і може монетизуватися через підписки, преміум-функції або інтеграцію з партнерами з рецептами.</a:t>
            </a:r>
          </a:p>
          <a:p>
            <a:pPr algn="l">
              <a:lnSpc>
                <a:spcPts val="4059"/>
              </a:lnSpc>
            </a:pPr>
            <a:endParaRPr lang="en-US" sz="2899" spc="-57">
              <a:solidFill>
                <a:srgbClr val="36211B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059"/>
              </a:lnSpc>
            </a:pPr>
            <a:endParaRPr lang="en-US" sz="2899" spc="-57">
              <a:solidFill>
                <a:srgbClr val="36211B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26107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 b="1" u="sng" spc="-57">
                <a:solidFill>
                  <a:srgbClr val="3621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Легітимність бізнесу:</a:t>
            </a:r>
          </a:p>
          <a:p>
            <a:pPr algn="l">
              <a:lnSpc>
                <a:spcPts val="4059"/>
              </a:lnSpc>
            </a:pPr>
            <a:r>
              <a:rPr lang="en-US" sz="2899" spc="-57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Проект відповідає вимогам законодавства, оскільки не використовує матеріали, захищені авторським правом, а рецепти можуть базуватися на відкритих даних або партнерських угодах. Конфлікту інтересів немає, а дотримання стандартів безпеки даних користувачів забезпечує легальність сервісу.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160864" y="8862060"/>
            <a:ext cx="2098436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spc="-48">
                <a:solidFill>
                  <a:srgbClr val="E8E6E3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201873"/>
            <a:ext cx="8475243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i="1" spc="-159">
                <a:solidFill>
                  <a:srgbClr val="36211B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Цінність продукту для бізнесу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159027" y="2361744"/>
            <a:ext cx="13969947" cy="6896556"/>
          </a:xfrm>
          <a:custGeom>
            <a:avLst/>
            <a:gdLst/>
            <a:ahLst/>
            <a:cxnLst/>
            <a:rect l="l" t="t" r="r" b="b"/>
            <a:pathLst>
              <a:path w="13969947" h="6896556">
                <a:moveTo>
                  <a:pt x="0" y="0"/>
                </a:moveTo>
                <a:lnTo>
                  <a:pt x="13969946" y="0"/>
                </a:lnTo>
                <a:lnTo>
                  <a:pt x="13969946" y="6896556"/>
                </a:lnTo>
                <a:lnTo>
                  <a:pt x="0" y="68965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0" y="952500"/>
            <a:ext cx="18288000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i="1" spc="-79">
                <a:solidFill>
                  <a:srgbClr val="000000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Порівняння з конкурентами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376223"/>
          </a:xfrm>
          <a:custGeom>
            <a:avLst/>
            <a:gdLst/>
            <a:ahLst/>
            <a:cxnLst/>
            <a:rect l="l" t="t" r="r" b="b"/>
            <a:pathLst>
              <a:path w="18288000" h="376223">
                <a:moveTo>
                  <a:pt x="0" y="0"/>
                </a:moveTo>
                <a:lnTo>
                  <a:pt x="18288000" y="0"/>
                </a:lnTo>
                <a:lnTo>
                  <a:pt x="18288000" y="376223"/>
                </a:lnTo>
                <a:lnTo>
                  <a:pt x="0" y="3762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31929" b="-110235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4439202"/>
            <a:ext cx="3086100" cy="308610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566046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313264" y="4439202"/>
            <a:ext cx="3086100" cy="308610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566046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743232" y="4439202"/>
            <a:ext cx="3086100" cy="308610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566046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172357" y="4439202"/>
            <a:ext cx="3086100" cy="3086100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566046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6755368" y="1772246"/>
            <a:ext cx="4777264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i="1" spc="-79">
                <a:solidFill>
                  <a:srgbClr val="000000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Огляд обсягу проєкту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4777" y="5105400"/>
            <a:ext cx="2853946" cy="1653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-48">
                <a:solidFill>
                  <a:srgbClr val="E8E6E3"/>
                </a:solidFill>
                <a:latin typeface="Canva Sans"/>
                <a:ea typeface="Canva Sans"/>
                <a:cs typeface="Canva Sans"/>
                <a:sym typeface="Canva Sans"/>
              </a:rPr>
              <a:t>Реєстрація користувача та профіль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endParaRPr lang="en-US" sz="2400" spc="-48">
              <a:solidFill>
                <a:srgbClr val="E8E6E3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5509653" y="5105400"/>
            <a:ext cx="2693322" cy="1234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-48">
                <a:solidFill>
                  <a:srgbClr val="E8E6E3"/>
                </a:solidFill>
                <a:latin typeface="Canva Sans"/>
                <a:ea typeface="Canva Sans"/>
                <a:cs typeface="Canva Sans"/>
                <a:sym typeface="Canva Sans"/>
              </a:rPr>
              <a:t>Різноманітність рецептів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endParaRPr lang="en-US" sz="2400" spc="-48">
              <a:solidFill>
                <a:srgbClr val="E8E6E3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0188418" y="4717332"/>
            <a:ext cx="2195729" cy="2491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-48">
                <a:solidFill>
                  <a:srgbClr val="E8E6E3"/>
                </a:solidFill>
                <a:latin typeface="Canva Sans"/>
                <a:ea typeface="Canva Sans"/>
                <a:cs typeface="Canva Sans"/>
                <a:sym typeface="Canva Sans"/>
              </a:rPr>
              <a:t>Автоматичний генератор страв на основі інгредієнтів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endParaRPr lang="en-US" sz="2400" spc="-48">
              <a:solidFill>
                <a:srgbClr val="E8E6E3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4810532" y="4895850"/>
            <a:ext cx="1918278" cy="2072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-48">
                <a:solidFill>
                  <a:srgbClr val="E8E6E3"/>
                </a:solidFill>
                <a:latin typeface="Canva Sans"/>
                <a:ea typeface="Canva Sans"/>
                <a:cs typeface="Canva Sans"/>
                <a:sym typeface="Canva Sans"/>
              </a:rPr>
              <a:t>Калькулятор калорій та поживних речовин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endParaRPr lang="en-US" sz="2400" spc="-48">
              <a:solidFill>
                <a:srgbClr val="E8E6E3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376223"/>
          </a:xfrm>
          <a:custGeom>
            <a:avLst/>
            <a:gdLst/>
            <a:ahLst/>
            <a:cxnLst/>
            <a:rect l="l" t="t" r="r" b="b"/>
            <a:pathLst>
              <a:path w="18288000" h="376223">
                <a:moveTo>
                  <a:pt x="0" y="0"/>
                </a:moveTo>
                <a:lnTo>
                  <a:pt x="18288000" y="0"/>
                </a:lnTo>
                <a:lnTo>
                  <a:pt x="18288000" y="376223"/>
                </a:lnTo>
                <a:lnTo>
                  <a:pt x="0" y="3762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31929" b="-110235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5160864" y="8862060"/>
            <a:ext cx="2098436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spc="-48">
                <a:solidFill>
                  <a:srgbClr val="E8E6E3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330422" y="1921642"/>
            <a:ext cx="9627156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i="1" spc="-79" dirty="0" err="1">
                <a:solidFill>
                  <a:srgbClr val="000000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Процес</a:t>
            </a:r>
            <a:r>
              <a:rPr lang="en-US" sz="3999" i="1" spc="-79" dirty="0">
                <a:solidFill>
                  <a:srgbClr val="000000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 </a:t>
            </a:r>
            <a:r>
              <a:rPr lang="en-US" sz="3999" i="1" spc="-79" dirty="0" err="1">
                <a:solidFill>
                  <a:srgbClr val="000000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розробки</a:t>
            </a:r>
            <a:r>
              <a:rPr lang="en-US" sz="3999" i="1" spc="-79" dirty="0">
                <a:solidFill>
                  <a:srgbClr val="000000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 </a:t>
            </a:r>
            <a:r>
              <a:rPr lang="en-US" sz="3999" i="1" spc="-79" dirty="0" err="1">
                <a:solidFill>
                  <a:srgbClr val="000000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програмного</a:t>
            </a:r>
            <a:r>
              <a:rPr lang="en-US" sz="3999" i="1" spc="-79" dirty="0">
                <a:solidFill>
                  <a:srgbClr val="000000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 </a:t>
            </a:r>
            <a:r>
              <a:rPr lang="en-US" sz="3999" i="1" spc="-79" dirty="0" err="1">
                <a:solidFill>
                  <a:srgbClr val="000000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забезпечення</a:t>
            </a:r>
            <a:endParaRPr lang="en-US" sz="3999" i="1" spc="-79" dirty="0">
              <a:solidFill>
                <a:srgbClr val="000000"/>
              </a:solidFill>
              <a:latin typeface="IBM Plex Serif Italics"/>
              <a:ea typeface="IBM Plex Serif Italics"/>
              <a:cs typeface="IBM Plex Serif Italics"/>
              <a:sym typeface="IBM Plex Serif Itali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113908" y="3190253"/>
            <a:ext cx="13782572" cy="2555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 spc="-5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У </a:t>
            </a:r>
            <a:r>
              <a:rPr lang="en-US" sz="2899" spc="-5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нашій</a:t>
            </a:r>
            <a:r>
              <a:rPr lang="en-US" sz="2899" spc="-5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899" spc="-5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команді</a:t>
            </a:r>
            <a:r>
              <a:rPr lang="en-US" sz="2899" spc="-5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899" spc="-5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ми</a:t>
            </a:r>
            <a:r>
              <a:rPr lang="en-US" sz="2899" spc="-5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899" spc="-5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використовуватимемо</a:t>
            </a:r>
            <a:r>
              <a:rPr lang="en-US" sz="2899" spc="-5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899" spc="-5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методологію</a:t>
            </a:r>
            <a:r>
              <a:rPr lang="en-US" sz="2899" spc="-5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899" b="1" u="sng" spc="-57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Scrum</a:t>
            </a:r>
            <a:r>
              <a:rPr lang="en-US" sz="2899" spc="-5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2899" spc="-5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яка</a:t>
            </a:r>
            <a:r>
              <a:rPr lang="en-US" sz="2899" spc="-5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899" spc="-5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дозволяє</a:t>
            </a:r>
            <a:r>
              <a:rPr lang="en-US" sz="2899" spc="-5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</a:t>
            </a:r>
            <a:r>
              <a:rPr lang="en-US" sz="2899" spc="-5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нам</a:t>
            </a:r>
            <a:r>
              <a:rPr lang="en-US" sz="2899" spc="-5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899" spc="-5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ефективно</a:t>
            </a:r>
            <a:r>
              <a:rPr lang="en-US" sz="2899" spc="-5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899" spc="-5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організувати</a:t>
            </a:r>
            <a:r>
              <a:rPr lang="en-US" sz="2899" spc="-5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899" spc="-5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робочий</a:t>
            </a:r>
            <a:r>
              <a:rPr lang="en-US" sz="2899" spc="-5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899" spc="-5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процес</a:t>
            </a:r>
            <a:r>
              <a:rPr lang="en-US" sz="2899" spc="-5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899" spc="-5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та</a:t>
            </a:r>
            <a:r>
              <a:rPr lang="en-US" sz="2899" spc="-5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899" spc="-5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швидко</a:t>
            </a:r>
            <a:r>
              <a:rPr lang="en-US" sz="2899" spc="-5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899" spc="-5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адаптуватися</a:t>
            </a:r>
            <a:r>
              <a:rPr lang="en-US" sz="2899" spc="-5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899" spc="-5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до</a:t>
            </a:r>
            <a:r>
              <a:rPr lang="en-US" sz="2899" spc="-5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899" spc="-5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змін</a:t>
            </a:r>
            <a:r>
              <a:rPr lang="en-US" sz="2899" spc="-5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 </a:t>
            </a:r>
            <a:r>
              <a:rPr lang="en-US" sz="2899" spc="-5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Ми</a:t>
            </a:r>
            <a:r>
              <a:rPr lang="en-US" sz="2899" spc="-5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899" spc="-5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працюватимем</a:t>
            </a:r>
            <a:r>
              <a:rPr lang="en-US" sz="2899" spc="-5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899" spc="-5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короткими</a:t>
            </a:r>
            <a:r>
              <a:rPr lang="en-US" sz="2899" spc="-5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899" spc="-5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спринтами</a:t>
            </a:r>
            <a:r>
              <a:rPr lang="en-US" sz="2899" spc="-5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2899" spc="-5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зазвичай</a:t>
            </a:r>
            <a:r>
              <a:rPr lang="en-US" sz="2899" spc="-5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899" spc="-5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тривалістю</a:t>
            </a:r>
            <a:r>
              <a:rPr lang="en-US" sz="2899" spc="-5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1-2 </a:t>
            </a:r>
            <a:r>
              <a:rPr lang="en-US" sz="2899" spc="-5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тижні</a:t>
            </a:r>
            <a:r>
              <a:rPr lang="en-US" sz="2899" spc="-5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з </a:t>
            </a:r>
            <a:r>
              <a:rPr lang="en-US" sz="2899" spc="-5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регулярними</a:t>
            </a:r>
            <a:r>
              <a:rPr lang="en-US" sz="2899" spc="-5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899" spc="-5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зустрічами</a:t>
            </a:r>
            <a:r>
              <a:rPr lang="en-US" sz="2899" spc="-5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899" spc="-5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для</a:t>
            </a:r>
            <a:r>
              <a:rPr lang="en-US" sz="2899" spc="-5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899" spc="-5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обговорення</a:t>
            </a:r>
            <a:r>
              <a:rPr lang="en-US" sz="2899" spc="-5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899" spc="-5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прогресу</a:t>
            </a:r>
            <a:r>
              <a:rPr lang="en-US" sz="2899" spc="-5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899" spc="-5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та</a:t>
            </a:r>
            <a:r>
              <a:rPr lang="en-US" sz="2899" spc="-5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899" spc="-5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коригування</a:t>
            </a:r>
            <a:r>
              <a:rPr lang="en-US" sz="2899" spc="-5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899" spc="-5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планів</a:t>
            </a:r>
            <a:r>
              <a:rPr lang="en-US" sz="2899" spc="-5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  <a:endParaRPr lang="en-US" sz="2899" spc="-57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028700" y="3405130"/>
            <a:ext cx="190363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7" name="AutoShape 7"/>
          <p:cNvSpPr/>
          <p:nvPr/>
        </p:nvSpPr>
        <p:spPr>
          <a:xfrm>
            <a:off x="1028700" y="6960903"/>
            <a:ext cx="190363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8" name="TextBox 8"/>
          <p:cNvSpPr txBox="1"/>
          <p:nvPr/>
        </p:nvSpPr>
        <p:spPr>
          <a:xfrm>
            <a:off x="3113908" y="6608034"/>
            <a:ext cx="13539312" cy="1012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059"/>
              </a:lnSpc>
              <a:spcBef>
                <a:spcPct val="0"/>
              </a:spcBef>
            </a:pPr>
            <a:r>
              <a:rPr lang="en-US" sz="2899" spc="-5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Ролі</a:t>
            </a:r>
            <a:r>
              <a:rPr lang="en-US" sz="2899" spc="-5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899" spc="-5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розподіляються</a:t>
            </a:r>
            <a:r>
              <a:rPr lang="en-US" sz="2899" spc="-5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899" spc="-5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на</a:t>
            </a:r>
            <a:r>
              <a:rPr lang="en-US" sz="2899" spc="-5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899" spc="-5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основі</a:t>
            </a:r>
            <a:r>
              <a:rPr lang="en-US" sz="2899" spc="-5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899" spc="-5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особистих</a:t>
            </a:r>
            <a:r>
              <a:rPr lang="en-US" sz="2899" spc="-5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899" spc="-5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уподобань</a:t>
            </a:r>
            <a:r>
              <a:rPr lang="en-US" sz="2899" spc="-5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899" spc="-5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кожного</a:t>
            </a:r>
            <a:r>
              <a:rPr lang="en-US" sz="2899" spc="-5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899" spc="-5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члена</a:t>
            </a:r>
            <a:r>
              <a:rPr lang="en-US" sz="2899" spc="-5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899" spc="-5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команди</a:t>
            </a:r>
            <a:r>
              <a:rPr lang="en-US" sz="2899" spc="-5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ctr">
              <a:lnSpc>
                <a:spcPts val="4059"/>
              </a:lnSpc>
              <a:spcBef>
                <a:spcPct val="0"/>
              </a:spcBef>
            </a:pPr>
            <a:endParaRPr lang="en-US" sz="2899" spc="-57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376223"/>
          </a:xfrm>
          <a:custGeom>
            <a:avLst/>
            <a:gdLst/>
            <a:ahLst/>
            <a:cxnLst/>
            <a:rect l="l" t="t" r="r" b="b"/>
            <a:pathLst>
              <a:path w="18288000" h="376223">
                <a:moveTo>
                  <a:pt x="0" y="0"/>
                </a:moveTo>
                <a:lnTo>
                  <a:pt x="18288000" y="0"/>
                </a:lnTo>
                <a:lnTo>
                  <a:pt x="18288000" y="376223"/>
                </a:lnTo>
                <a:lnTo>
                  <a:pt x="0" y="3762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31929" b="-110235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3259582"/>
            <a:ext cx="16230600" cy="5222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7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 b="1" spc="-57" dirty="0" err="1">
                <a:solidFill>
                  <a:srgbClr val="3621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Планування</a:t>
            </a:r>
            <a:r>
              <a:rPr lang="en-US" sz="2899" b="1" spc="-57" dirty="0">
                <a:solidFill>
                  <a:srgbClr val="3621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899" b="1" spc="-57" dirty="0" err="1">
                <a:solidFill>
                  <a:srgbClr val="3621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та</a:t>
            </a:r>
            <a:r>
              <a:rPr lang="en-US" sz="2899" b="1" spc="-57" dirty="0">
                <a:solidFill>
                  <a:srgbClr val="3621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899" b="1" spc="-57" dirty="0" err="1">
                <a:solidFill>
                  <a:srgbClr val="3621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аналіз</a:t>
            </a:r>
            <a:r>
              <a:rPr lang="en-US" sz="2899" spc="-57" dirty="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– </a:t>
            </a:r>
            <a:r>
              <a:rPr lang="en-US" sz="2899" spc="-57" dirty="0" err="1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аналіз</a:t>
            </a:r>
            <a:r>
              <a:rPr lang="en-US" sz="2899" spc="-57" dirty="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899" spc="-57" dirty="0" err="1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потреб</a:t>
            </a:r>
            <a:r>
              <a:rPr lang="en-US" sz="2899" spc="-57" dirty="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2899" spc="-57" dirty="0" err="1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створення</a:t>
            </a:r>
            <a:r>
              <a:rPr lang="en-US" sz="2899" spc="-57" dirty="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899" spc="-57" dirty="0" err="1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беклогу</a:t>
            </a:r>
            <a:r>
              <a:rPr lang="en-US" sz="2899" spc="-57" dirty="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2899" spc="-57" dirty="0" err="1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вибір</a:t>
            </a:r>
            <a:r>
              <a:rPr lang="en-US" sz="2899" spc="-57" dirty="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899" spc="-57" dirty="0" err="1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технологій</a:t>
            </a:r>
            <a:r>
              <a:rPr lang="en-US" sz="2899" spc="-57" dirty="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l">
              <a:lnSpc>
                <a:spcPts val="4059"/>
              </a:lnSpc>
            </a:pPr>
            <a:endParaRPr lang="en-US" sz="2899" spc="-57" dirty="0">
              <a:solidFill>
                <a:srgbClr val="36211B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26107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 b="1" spc="-57" dirty="0" err="1">
                <a:solidFill>
                  <a:srgbClr val="3621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Проєктування</a:t>
            </a:r>
            <a:r>
              <a:rPr lang="en-US" sz="2899" b="1" spc="-57" dirty="0">
                <a:solidFill>
                  <a:srgbClr val="3621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899" b="1" spc="-57" dirty="0" err="1">
                <a:solidFill>
                  <a:srgbClr val="3621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архітектури</a:t>
            </a:r>
            <a:r>
              <a:rPr lang="en-US" sz="2899" spc="-57" dirty="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–</a:t>
            </a:r>
            <a:r>
              <a:rPr lang="en-US" sz="2899" spc="-57" dirty="0" err="1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розробка</a:t>
            </a:r>
            <a:r>
              <a:rPr lang="en-US" sz="2899" spc="-57" dirty="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899" spc="-57" dirty="0" err="1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структури</a:t>
            </a:r>
            <a:r>
              <a:rPr lang="en-US" sz="2899" spc="-57" dirty="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 БД, </a:t>
            </a:r>
            <a:r>
              <a:rPr lang="en-US" sz="2899" spc="-57" dirty="0" err="1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проєктування</a:t>
            </a:r>
            <a:r>
              <a:rPr lang="en-US" sz="2899" spc="-57" dirty="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 API.</a:t>
            </a:r>
          </a:p>
          <a:p>
            <a:pPr algn="l">
              <a:lnSpc>
                <a:spcPts val="4059"/>
              </a:lnSpc>
            </a:pPr>
            <a:endParaRPr lang="en-US" sz="2899" spc="-57" dirty="0">
              <a:solidFill>
                <a:srgbClr val="36211B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26107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 b="1" spc="-57" dirty="0" err="1">
                <a:solidFill>
                  <a:srgbClr val="3621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Розробка</a:t>
            </a:r>
            <a:r>
              <a:rPr lang="en-US" sz="2899" b="1" spc="-57" dirty="0">
                <a:solidFill>
                  <a:srgbClr val="3621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Core-</a:t>
            </a:r>
            <a:r>
              <a:rPr lang="en-US" sz="2899" b="1" spc="-57" dirty="0" err="1">
                <a:solidFill>
                  <a:srgbClr val="3621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логіки</a:t>
            </a:r>
            <a:r>
              <a:rPr lang="en-US" sz="2899" b="1" spc="-57" dirty="0">
                <a:solidFill>
                  <a:srgbClr val="3621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(Backend)</a:t>
            </a:r>
            <a:r>
              <a:rPr lang="en-US" sz="2899" spc="-57" dirty="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– </a:t>
            </a:r>
            <a:r>
              <a:rPr lang="en-US" sz="2899" spc="-57" dirty="0" err="1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алгоритм</a:t>
            </a:r>
            <a:r>
              <a:rPr lang="en-US" sz="2899" spc="-57" dirty="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899" spc="-57" dirty="0" err="1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генератора,система</a:t>
            </a:r>
            <a:r>
              <a:rPr lang="en-US" sz="2899" spc="-57" dirty="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 БЖВ ,</a:t>
            </a:r>
            <a:r>
              <a:rPr lang="en-US" sz="2899" spc="-57" dirty="0" err="1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Безпека</a:t>
            </a:r>
            <a:r>
              <a:rPr lang="en-US" sz="2899" spc="-57" dirty="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 .</a:t>
            </a:r>
          </a:p>
          <a:p>
            <a:pPr algn="l">
              <a:lnSpc>
                <a:spcPts val="4059"/>
              </a:lnSpc>
            </a:pPr>
            <a:endParaRPr lang="en-US" sz="2899" spc="-57" dirty="0">
              <a:solidFill>
                <a:srgbClr val="36211B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26107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 b="1" spc="-57" dirty="0" err="1">
                <a:solidFill>
                  <a:srgbClr val="3621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Реалізація</a:t>
            </a:r>
            <a:r>
              <a:rPr lang="en-US" sz="2899" b="1" spc="-57" dirty="0">
                <a:solidFill>
                  <a:srgbClr val="3621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899" b="1" spc="-57" dirty="0" err="1">
                <a:solidFill>
                  <a:srgbClr val="3621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інтерфейсу</a:t>
            </a:r>
            <a:r>
              <a:rPr lang="en-US" sz="2899" b="1" spc="-57" dirty="0">
                <a:solidFill>
                  <a:srgbClr val="3621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(Frontend)</a:t>
            </a:r>
            <a:r>
              <a:rPr lang="en-US" sz="2899" spc="-57" dirty="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– </a:t>
            </a:r>
            <a:r>
              <a:rPr lang="en-US" sz="2899" spc="-57" dirty="0" err="1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динамічні</a:t>
            </a:r>
            <a:r>
              <a:rPr lang="en-US" sz="2899" spc="-57" dirty="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899" spc="-57" dirty="0" err="1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сторінки,User</a:t>
            </a:r>
            <a:r>
              <a:rPr lang="en-US" sz="2899" spc="-57" dirty="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 Experience.</a:t>
            </a:r>
          </a:p>
          <a:p>
            <a:pPr algn="l">
              <a:lnSpc>
                <a:spcPts val="4059"/>
              </a:lnSpc>
            </a:pPr>
            <a:endParaRPr lang="en-US" sz="2899" spc="-57" dirty="0">
              <a:solidFill>
                <a:srgbClr val="36211B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26107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 b="1" spc="-57" dirty="0" err="1" smtClean="0">
                <a:solidFill>
                  <a:srgbClr val="3621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Тестування</a:t>
            </a:r>
            <a:r>
              <a:rPr lang="en-US" sz="2899" b="1" spc="-57" dirty="0" smtClean="0">
                <a:solidFill>
                  <a:srgbClr val="3621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899" b="1" spc="-57" dirty="0" err="1">
                <a:solidFill>
                  <a:srgbClr val="3621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та</a:t>
            </a:r>
            <a:r>
              <a:rPr lang="en-US" sz="2899" b="1" spc="-57" dirty="0">
                <a:solidFill>
                  <a:srgbClr val="3621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899" b="1" spc="-57" dirty="0" err="1">
                <a:solidFill>
                  <a:srgbClr val="3621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розгортання</a:t>
            </a:r>
            <a:r>
              <a:rPr lang="en-US" sz="2899" b="1" spc="-57" dirty="0">
                <a:solidFill>
                  <a:srgbClr val="3621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899" spc="-57" dirty="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– </a:t>
            </a:r>
            <a:r>
              <a:rPr lang="en-US" sz="2899" spc="-57" dirty="0" err="1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перевірка</a:t>
            </a:r>
            <a:r>
              <a:rPr lang="en-US" sz="2899" spc="-57" dirty="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899" spc="-57" dirty="0" err="1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функціональності</a:t>
            </a:r>
            <a:r>
              <a:rPr lang="en-US" sz="2899" spc="-57" dirty="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899" spc="-57" dirty="0" err="1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всіх</a:t>
            </a:r>
            <a:r>
              <a:rPr lang="en-US" sz="2899" spc="-57" dirty="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899" spc="-57" dirty="0" err="1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компонентів</a:t>
            </a:r>
            <a:r>
              <a:rPr lang="en-US" sz="2899" spc="-57" dirty="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 ,CI/CD.</a:t>
            </a:r>
          </a:p>
          <a:p>
            <a:pPr algn="l">
              <a:lnSpc>
                <a:spcPts val="4059"/>
              </a:lnSpc>
            </a:pPr>
            <a:endParaRPr lang="en-US" sz="2899" spc="-57" dirty="0">
              <a:solidFill>
                <a:srgbClr val="36211B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5160864" y="8862060"/>
            <a:ext cx="2098436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spc="-48">
                <a:solidFill>
                  <a:srgbClr val="E8E6E3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790700"/>
            <a:ext cx="5615367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899" i="1" spc="-155">
                <a:solidFill>
                  <a:srgbClr val="36211B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Етапи: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376223"/>
          </a:xfrm>
          <a:custGeom>
            <a:avLst/>
            <a:gdLst/>
            <a:ahLst/>
            <a:cxnLst/>
            <a:rect l="l" t="t" r="r" b="b"/>
            <a:pathLst>
              <a:path w="18288000" h="376223">
                <a:moveTo>
                  <a:pt x="0" y="0"/>
                </a:moveTo>
                <a:lnTo>
                  <a:pt x="18288000" y="0"/>
                </a:lnTo>
                <a:lnTo>
                  <a:pt x="18288000" y="376223"/>
                </a:lnTo>
                <a:lnTo>
                  <a:pt x="0" y="3762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31929" b="-110235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858015"/>
            <a:ext cx="4073587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i="1" spc="-79">
                <a:solidFill>
                  <a:srgbClr val="36211B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Бізнес процеси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4165609"/>
            <a:ext cx="4477275" cy="319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spc="-51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PantryChef відповідає зростаючому попиту на персоналізоване харчування, автоматизацію планування та зменшення харчових відходів.</a:t>
            </a:r>
          </a:p>
          <a:p>
            <a:pPr algn="l">
              <a:lnSpc>
                <a:spcPts val="3639"/>
              </a:lnSpc>
            </a:pPr>
            <a:endParaRPr lang="en-US" sz="2599" spc="-51">
              <a:solidFill>
                <a:srgbClr val="36211B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905362" y="4165609"/>
            <a:ext cx="4477275" cy="5477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spc="-51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Додаток буде створено для зайнятих людей, родин, спортсменів і тих, хто дбає про здоров’я. На відміну від звичайних застосунків із рецептами, PantryChef пропонує розумне планування раціону, облік інгредієнтів і аналіз харчування під потреби користувача.</a:t>
            </a:r>
          </a:p>
          <a:p>
            <a:pPr algn="l">
              <a:lnSpc>
                <a:spcPts val="3639"/>
              </a:lnSpc>
            </a:pPr>
            <a:endParaRPr lang="en-US" sz="2599" spc="-51">
              <a:solidFill>
                <a:srgbClr val="36211B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2782813" y="4165609"/>
            <a:ext cx="4477275" cy="364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spc="-51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У той час як більшість сервісів не мають автоматизації та управління запасами, PantryChef вирізняється поєднанням здоров’я, зручності та сталого підходу.</a:t>
            </a:r>
          </a:p>
          <a:p>
            <a:pPr algn="l">
              <a:lnSpc>
                <a:spcPts val="3639"/>
              </a:lnSpc>
            </a:pPr>
            <a:endParaRPr lang="en-US" sz="2599" spc="-51">
              <a:solidFill>
                <a:srgbClr val="36211B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3206755"/>
            <a:ext cx="398364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spc="-103">
                <a:solidFill>
                  <a:srgbClr val="36211B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926445" y="3206755"/>
            <a:ext cx="398364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spc="-103">
                <a:solidFill>
                  <a:srgbClr val="36211B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782025" y="3206755"/>
            <a:ext cx="398364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spc="-103">
                <a:solidFill>
                  <a:srgbClr val="36211B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344400" y="6981092"/>
            <a:ext cx="2547610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spc="-48" dirty="0">
                <a:solidFill>
                  <a:srgbClr val="3621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КОМАНДА: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870204" y="4035928"/>
            <a:ext cx="12547592" cy="160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12000" spc="-480">
                <a:solidFill>
                  <a:srgbClr val="36211B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ДЯКУЄМО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662490" y="5847212"/>
            <a:ext cx="10963021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i="1" spc="-144">
                <a:solidFill>
                  <a:srgbClr val="36211B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За увагу!</a:t>
            </a:r>
          </a:p>
        </p:txBody>
      </p:sp>
      <p:sp>
        <p:nvSpPr>
          <p:cNvPr id="6" name="Freeform 6"/>
          <p:cNvSpPr/>
          <p:nvPr/>
        </p:nvSpPr>
        <p:spPr>
          <a:xfrm>
            <a:off x="0" y="9910777"/>
            <a:ext cx="18288000" cy="376223"/>
          </a:xfrm>
          <a:custGeom>
            <a:avLst/>
            <a:gdLst/>
            <a:ahLst/>
            <a:cxnLst/>
            <a:rect l="l" t="t" r="r" b="b"/>
            <a:pathLst>
              <a:path w="18288000" h="376223">
                <a:moveTo>
                  <a:pt x="0" y="0"/>
                </a:moveTo>
                <a:lnTo>
                  <a:pt x="18288000" y="0"/>
                </a:lnTo>
                <a:lnTo>
                  <a:pt x="18288000" y="376223"/>
                </a:lnTo>
                <a:lnTo>
                  <a:pt x="0" y="3762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31929" b="-1102351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4097000" y="6981092"/>
            <a:ext cx="4419600" cy="2180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uk-UA" sz="2400" spc="-48" dirty="0" err="1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Галух</a:t>
            </a:r>
            <a:r>
              <a:rPr lang="uk-UA" sz="2400" spc="-48" dirty="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 Антон   </a:t>
            </a:r>
          </a:p>
          <a:p>
            <a:pPr>
              <a:lnSpc>
                <a:spcPts val="3359"/>
              </a:lnSpc>
            </a:pPr>
            <a:r>
              <a:rPr lang="uk-UA" sz="2400" spc="-48" dirty="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Ковальчук  Влад</a:t>
            </a:r>
          </a:p>
          <a:p>
            <a:pPr>
              <a:lnSpc>
                <a:spcPts val="3359"/>
              </a:lnSpc>
            </a:pPr>
            <a:r>
              <a:rPr lang="uk-UA" sz="2400" spc="-48" dirty="0" err="1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Джавала</a:t>
            </a:r>
            <a:r>
              <a:rPr lang="uk-UA" sz="2400" spc="-48" dirty="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 Анна</a:t>
            </a:r>
          </a:p>
          <a:p>
            <a:pPr>
              <a:lnSpc>
                <a:spcPts val="3359"/>
              </a:lnSpc>
            </a:pPr>
            <a:r>
              <a:rPr lang="uk-UA" sz="2400" spc="-48" dirty="0" err="1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Кахновець</a:t>
            </a:r>
            <a:r>
              <a:rPr lang="uk-UA" sz="2400" spc="-48" dirty="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 Андрій</a:t>
            </a:r>
          </a:p>
          <a:p>
            <a:pPr>
              <a:lnSpc>
                <a:spcPts val="3359"/>
              </a:lnSpc>
            </a:pPr>
            <a:r>
              <a:rPr lang="uk-UA" sz="2400" spc="-48" dirty="0" err="1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Чвартковська</a:t>
            </a:r>
            <a:r>
              <a:rPr lang="uk-UA" sz="2400" spc="-48" dirty="0">
                <a:solidFill>
                  <a:srgbClr val="36211B"/>
                </a:solidFill>
                <a:latin typeface="Canva Sans"/>
                <a:ea typeface="Canva Sans"/>
                <a:cs typeface="Canva Sans"/>
                <a:sym typeface="Canva Sans"/>
              </a:rPr>
              <a:t> Соломія</a:t>
            </a:r>
            <a:endParaRPr lang="en-US" sz="2400" spc="-48" dirty="0">
              <a:solidFill>
                <a:srgbClr val="36211B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910777"/>
            <a:ext cx="18288000" cy="376223"/>
          </a:xfrm>
          <a:custGeom>
            <a:avLst/>
            <a:gdLst/>
            <a:ahLst/>
            <a:cxnLst/>
            <a:rect l="l" t="t" r="r" b="b"/>
            <a:pathLst>
              <a:path w="18288000" h="376223">
                <a:moveTo>
                  <a:pt x="0" y="0"/>
                </a:moveTo>
                <a:lnTo>
                  <a:pt x="18288000" y="0"/>
                </a:lnTo>
                <a:lnTo>
                  <a:pt x="18288000" y="376223"/>
                </a:lnTo>
                <a:lnTo>
                  <a:pt x="0" y="3762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31929" b="-110235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406104" y="1028700"/>
            <a:ext cx="6286802" cy="5375447"/>
          </a:xfrm>
          <a:custGeom>
            <a:avLst/>
            <a:gdLst/>
            <a:ahLst/>
            <a:cxnLst/>
            <a:rect l="l" t="t" r="r" b="b"/>
            <a:pathLst>
              <a:path w="6286802" h="5375447">
                <a:moveTo>
                  <a:pt x="0" y="0"/>
                </a:moveTo>
                <a:lnTo>
                  <a:pt x="6286802" y="0"/>
                </a:lnTo>
                <a:lnTo>
                  <a:pt x="6286802" y="5375447"/>
                </a:lnTo>
                <a:lnTo>
                  <a:pt x="0" y="53754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662490" y="6743591"/>
            <a:ext cx="10963021" cy="1282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i="1" spc="-144" dirty="0" err="1">
                <a:solidFill>
                  <a:srgbClr val="36211B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Якщо</a:t>
            </a:r>
            <a:r>
              <a:rPr lang="en-US" sz="3600" i="1" spc="-144" dirty="0">
                <a:solidFill>
                  <a:srgbClr val="36211B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 у </a:t>
            </a:r>
            <a:r>
              <a:rPr lang="en-US" sz="3600" i="1" spc="-144" dirty="0" err="1">
                <a:solidFill>
                  <a:srgbClr val="36211B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Вас</a:t>
            </a:r>
            <a:r>
              <a:rPr lang="en-US" sz="3600" i="1" spc="-144" dirty="0">
                <a:solidFill>
                  <a:srgbClr val="36211B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 </a:t>
            </a:r>
            <a:r>
              <a:rPr lang="en-US" sz="3600" i="1" spc="-144" dirty="0" err="1">
                <a:solidFill>
                  <a:srgbClr val="36211B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залишились</a:t>
            </a:r>
            <a:r>
              <a:rPr lang="en-US" sz="3600" i="1" spc="-144" dirty="0">
                <a:solidFill>
                  <a:srgbClr val="36211B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 </a:t>
            </a:r>
            <a:r>
              <a:rPr lang="en-US" sz="3600" i="1" spc="-144" dirty="0" err="1">
                <a:solidFill>
                  <a:srgbClr val="36211B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якісь</a:t>
            </a:r>
            <a:r>
              <a:rPr lang="en-US" sz="3600" i="1" spc="-144" dirty="0">
                <a:solidFill>
                  <a:srgbClr val="36211B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 </a:t>
            </a:r>
            <a:r>
              <a:rPr lang="en-US" sz="3600" i="1" spc="-144" dirty="0" err="1">
                <a:solidFill>
                  <a:srgbClr val="36211B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запитання</a:t>
            </a:r>
            <a:r>
              <a:rPr lang="en-US" sz="3600" i="1" spc="-144" dirty="0">
                <a:solidFill>
                  <a:srgbClr val="36211B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 - </a:t>
            </a:r>
            <a:r>
              <a:rPr lang="en-US" sz="3600" i="1" spc="-144" dirty="0" err="1">
                <a:solidFill>
                  <a:srgbClr val="36211B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тримайте</a:t>
            </a:r>
            <a:r>
              <a:rPr lang="en-US" sz="3600" i="1" spc="-144" dirty="0">
                <a:solidFill>
                  <a:srgbClr val="36211B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 </a:t>
            </a:r>
            <a:r>
              <a:rPr lang="en-US" sz="3600" i="1" spc="-144" dirty="0" err="1">
                <a:solidFill>
                  <a:srgbClr val="36211B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їх</a:t>
            </a:r>
            <a:r>
              <a:rPr lang="en-US" sz="3600" i="1" spc="-144" dirty="0">
                <a:solidFill>
                  <a:srgbClr val="36211B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 </a:t>
            </a:r>
            <a:r>
              <a:rPr lang="en-US" sz="3600" i="1" spc="-144" dirty="0" err="1">
                <a:solidFill>
                  <a:srgbClr val="36211B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при</a:t>
            </a:r>
            <a:r>
              <a:rPr lang="en-US" sz="3600" i="1" spc="-144" dirty="0">
                <a:solidFill>
                  <a:srgbClr val="36211B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 </a:t>
            </a:r>
            <a:r>
              <a:rPr lang="en-US" sz="3600" i="1" spc="-144" dirty="0" err="1">
                <a:solidFill>
                  <a:srgbClr val="36211B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собі</a:t>
            </a:r>
            <a:r>
              <a:rPr lang="en-US" sz="3600" i="1" spc="-144" dirty="0">
                <a:solidFill>
                  <a:srgbClr val="36211B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, </a:t>
            </a:r>
            <a:r>
              <a:rPr lang="uk-UA" sz="3600" i="1" spc="-144" dirty="0" smtClean="0">
                <a:solidFill>
                  <a:srgbClr val="36211B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ми</a:t>
            </a:r>
            <a:r>
              <a:rPr lang="en-US" sz="3600" i="1" spc="-144" dirty="0" smtClean="0">
                <a:solidFill>
                  <a:srgbClr val="36211B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 </a:t>
            </a:r>
            <a:r>
              <a:rPr lang="en-US" sz="3600" i="1" spc="-144" dirty="0" err="1">
                <a:solidFill>
                  <a:srgbClr val="36211B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Вам</a:t>
            </a:r>
            <a:r>
              <a:rPr lang="en-US" sz="3600" i="1" spc="-144" dirty="0">
                <a:solidFill>
                  <a:srgbClr val="36211B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 </a:t>
            </a:r>
            <a:r>
              <a:rPr lang="en-US" sz="3600" i="1" spc="-144" dirty="0" err="1">
                <a:solidFill>
                  <a:srgbClr val="36211B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не</a:t>
            </a:r>
            <a:r>
              <a:rPr lang="en-US" sz="3600" i="1" spc="-144" dirty="0">
                <a:solidFill>
                  <a:srgbClr val="36211B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 Google :)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685</TotalTime>
  <Words>579</Words>
  <Application>Microsoft Office PowerPoint</Application>
  <PresentationFormat>Довільний</PresentationFormat>
  <Paragraphs>67</Paragraphs>
  <Slides>11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11</vt:i4>
      </vt:variant>
    </vt:vector>
  </HeadingPairs>
  <TitlesOfParts>
    <vt:vector size="18" baseType="lpstr">
      <vt:lpstr>Arial</vt:lpstr>
      <vt:lpstr>IBM Plex Serif Italics</vt:lpstr>
      <vt:lpstr>IBM Plex Serif</vt:lpstr>
      <vt:lpstr>Canva Sans Bold</vt:lpstr>
      <vt:lpstr>Canva Sans</vt:lpstr>
      <vt:lpstr>Calibri</vt:lpstr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Команда:</dc:title>
  <cp:lastModifiedBy>HP</cp:lastModifiedBy>
  <cp:revision>7</cp:revision>
  <dcterms:created xsi:type="dcterms:W3CDTF">2006-08-16T00:00:00Z</dcterms:created>
  <dcterms:modified xsi:type="dcterms:W3CDTF">2026-03-02T17:03:05Z</dcterms:modified>
  <dc:identifier>DAHB41DBVZQ</dc:identifier>
</cp:coreProperties>
</file>